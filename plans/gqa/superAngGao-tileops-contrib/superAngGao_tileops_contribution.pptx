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72026"/>
                </a:solidFill>
                <a:latin typeface="Microsoft YaHei"/>
              </a:defRPr>
            </a:pPr>
            <a:r>
              <a:t>superAngGao 在 TileOPs 的贡献统计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94944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63707A"/>
                </a:solidFill>
                <a:latin typeface="Microsoft YaHei"/>
              </a:defRPr>
            </a:pPr>
            <a:r>
              <a:t>tile-ai/TileOPs · upstream/main · 更新至 2026-05-05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2514600" cy="1005840"/>
          </a:xfrm>
          <a:prstGeom prst="rect">
            <a:avLst/>
          </a:prstGeom>
          <a:solidFill>
            <a:srgbClr val="F7F9FB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63707A"/>
                </a:solidFill>
                <a:latin typeface="Microsoft YaHei"/>
              </a:defRPr>
            </a:pPr>
            <a:r>
              <a:t>主线提交</a:t>
            </a:r>
          </a:p>
          <a:p>
            <a:pPr algn="l">
              <a:defRPr sz="2600" b="1">
                <a:solidFill>
                  <a:srgbClr val="172026"/>
                </a:solidFill>
                <a:latin typeface="Arial"/>
              </a:defRPr>
            </a:pPr>
            <a:r>
              <a:t>76</a:t>
            </a:r>
          </a:p>
          <a:p>
            <a:pPr algn="l">
              <a:defRPr sz="950">
                <a:solidFill>
                  <a:srgbClr val="63707A"/>
                </a:solidFill>
                <a:latin typeface="Arial"/>
              </a:defRPr>
            </a:pPr>
            <a:r>
              <a:t>merged commits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143000"/>
            <a:ext cx="2514600" cy="1005840"/>
          </a:xfrm>
          <a:prstGeom prst="rect">
            <a:avLst/>
          </a:prstGeom>
          <a:solidFill>
            <a:srgbClr val="F7F9FB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63707A"/>
                </a:solidFill>
                <a:latin typeface="Microsoft YaHei"/>
              </a:defRPr>
            </a:pPr>
            <a:r>
              <a:t>作者排名</a:t>
            </a:r>
          </a:p>
          <a:p>
            <a:pPr algn="l">
              <a:defRPr sz="2600" b="1">
                <a:solidFill>
                  <a:srgbClr val="172026"/>
                </a:solidFill>
                <a:latin typeface="Arial"/>
              </a:defRPr>
            </a:pPr>
            <a:r>
              <a:t>#2</a:t>
            </a:r>
          </a:p>
          <a:p>
            <a:pPr algn="l">
              <a:defRPr sz="950">
                <a:solidFill>
                  <a:srgbClr val="63707A"/>
                </a:solidFill>
                <a:latin typeface="Arial"/>
              </a:defRPr>
            </a:pPr>
            <a:r>
              <a:t>14.2% of commits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143000"/>
            <a:ext cx="2514600" cy="1005840"/>
          </a:xfrm>
          <a:prstGeom prst="rect">
            <a:avLst/>
          </a:prstGeom>
          <a:solidFill>
            <a:srgbClr val="F7F9FB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63707A"/>
                </a:solidFill>
                <a:latin typeface="Microsoft YaHei"/>
              </a:defRPr>
            </a:pPr>
            <a:r>
              <a:t>Merged PR</a:t>
            </a:r>
          </a:p>
          <a:p>
            <a:pPr algn="l">
              <a:defRPr sz="2600" b="1">
                <a:solidFill>
                  <a:srgbClr val="172026"/>
                </a:solidFill>
                <a:latin typeface="Arial"/>
              </a:defRPr>
            </a:pPr>
            <a:r>
              <a:t>76</a:t>
            </a:r>
          </a:p>
          <a:p>
            <a:pPr algn="l">
              <a:defRPr sz="950">
                <a:solidFill>
                  <a:srgbClr val="63707A"/>
                </a:solidFill>
                <a:latin typeface="Arial"/>
              </a:defRPr>
            </a:pPr>
            <a:r>
              <a:t>91 total PRs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281160" y="1143000"/>
            <a:ext cx="2514600" cy="1005840"/>
          </a:xfrm>
          <a:prstGeom prst="rect">
            <a:avLst/>
          </a:prstGeom>
          <a:solidFill>
            <a:srgbClr val="F7F9FB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63707A"/>
                </a:solidFill>
                <a:latin typeface="Microsoft YaHei"/>
              </a:defRPr>
            </a:pPr>
            <a:r>
              <a:t>代码变更</a:t>
            </a:r>
          </a:p>
          <a:p>
            <a:pPr algn="l">
              <a:defRPr sz="2600" b="1">
                <a:solidFill>
                  <a:srgbClr val="172026"/>
                </a:solidFill>
                <a:latin typeface="Arial"/>
              </a:defRPr>
            </a:pPr>
            <a:r>
              <a:t>34,992</a:t>
            </a:r>
          </a:p>
          <a:p>
            <a:pPr algn="l">
              <a:defRPr sz="950">
                <a:solidFill>
                  <a:srgbClr val="63707A"/>
                </a:solidFill>
                <a:latin typeface="Arial"/>
              </a:defRPr>
            </a:pPr>
            <a:r>
              <a:t>additions + deletions</a:t>
            </a:r>
          </a:p>
        </p:txBody>
      </p:sp>
      <p:pic>
        <p:nvPicPr>
          <p:cNvPr id="8" name="Picture 7" descr="01_monthly_com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5440680" cy="3109763"/>
          </a:xfrm>
          <a:prstGeom prst="rect">
            <a:avLst/>
          </a:prstGeom>
        </p:spPr>
      </p:pic>
      <p:pic>
        <p:nvPicPr>
          <p:cNvPr id="9" name="Picture 8" descr="04_pr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42032"/>
            <a:ext cx="4434840" cy="3365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72026"/>
                </a:solidFill>
                <a:latin typeface="Microsoft YaHei"/>
              </a:defRPr>
            </a:pPr>
            <a:r>
              <a:t>提交趋势与类型分布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94944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63707A"/>
                </a:solidFill>
                <a:latin typeface="Microsoft YaHei"/>
              </a:defRPr>
            </a:pPr>
            <a:r>
              <a:t>突出 2026-03 的集中合入，以及 Fix/CI/Feat 的主要贡献方向</a:t>
            </a:r>
          </a:p>
        </p:txBody>
      </p:sp>
      <p:pic>
        <p:nvPicPr>
          <p:cNvPr id="4" name="Picture 3" descr="01_monthly_com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623560" cy="3214293"/>
          </a:xfrm>
          <a:prstGeom prst="rect">
            <a:avLst/>
          </a:prstGeom>
        </p:spPr>
      </p:pic>
      <p:pic>
        <p:nvPicPr>
          <p:cNvPr id="5" name="Picture 4" descr="02_commit_type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60120"/>
            <a:ext cx="4572000" cy="47108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72026"/>
                </a:solidFill>
                <a:latin typeface="Microsoft YaHei"/>
              </a:defRPr>
            </a:pPr>
            <a:r>
              <a:t>模块影响范围与 PR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94944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63707A"/>
                </a:solidFill>
                <a:latin typeface="Microsoft YaHei"/>
              </a:defRPr>
            </a:pPr>
            <a:r>
              <a:t>主线代码、benchmark、tests 和 CI 都有覆盖，可展示为工程闭环贡献</a:t>
            </a:r>
          </a:p>
        </p:txBody>
      </p:sp>
      <p:pic>
        <p:nvPicPr>
          <p:cNvPr id="4" name="Picture 3" descr="03_module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897880" cy="3365863"/>
          </a:xfrm>
          <a:prstGeom prst="rect">
            <a:avLst/>
          </a:prstGeom>
        </p:spPr>
      </p:pic>
      <p:pic>
        <p:nvPicPr>
          <p:cNvPr id="5" name="Picture 4" descr="04_pr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325880"/>
            <a:ext cx="4434840" cy="33656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72026"/>
                </a:solidFill>
                <a:latin typeface="Microsoft YaHei"/>
              </a:defRPr>
            </a:pPr>
            <a:r>
              <a:t>一页总览图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94944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63707A"/>
                </a:solidFill>
                <a:latin typeface="Microsoft YaHei"/>
              </a:defRPr>
            </a:pPr>
            <a:r>
              <a:t>可作为汇报中的独立截图页，也可拆分为 KPI + 趋势 + 排名</a:t>
            </a:r>
          </a:p>
        </p:txBody>
      </p:sp>
      <p:pic>
        <p:nvPicPr>
          <p:cNvPr id="4" name="Picture 3" descr="00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41832"/>
            <a:ext cx="11631168" cy="69670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72026"/>
                </a:solidFill>
                <a:latin typeface="Microsoft YaHei"/>
              </a:defRPr>
            </a:pPr>
            <a:r>
              <a:t>GQA Dense Prefill 性能对比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94944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63707A"/>
                </a:solidFill>
                <a:latin typeface="Microsoft YaHei"/>
              </a:defRPr>
            </a:pPr>
            <a:r>
              <a:t>数据来自 nightly run 25259450950：causal inference prefill，相对 FA3 归一化</a:t>
            </a:r>
          </a:p>
        </p:txBody>
      </p:sp>
      <p:pic>
        <p:nvPicPr>
          <p:cNvPr id="4" name="Picture 3" descr="05_gqa_perf_pr8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8680"/>
            <a:ext cx="11750040" cy="68087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